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1" r:id="rId12"/>
    <p:sldId id="262" r:id="rId13"/>
    <p:sldId id="263" r:id="rId14"/>
    <p:sldId id="266" r:id="rId17"/>
    <p:sldId id="267" r:id="rId18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4" r:id="rId155"/>
    <p:sldId id="405" r:id="rId1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(SGD)</c:v>
                </c:pt>
              </c:strCache>
            </c:strRef>
          </c:tx>
          <c:spPr>
            <a:solidFill>
              <a:srgbClr val="0F766E"/>
            </a:solidFill>
          </c:spPr>
          <c:cat>
            <c:strRef>
              <c:f>Sheet1!$A$2:$A$5</c:f>
              <c:strCache>
                <c:ptCount val="4"/>
                <c:pt idx="0">
                  <c:v>Marketplace</c:v>
                </c:pt>
                <c:pt idx="1">
                  <c:v>Store</c:v>
                </c:pt>
                <c:pt idx="2">
                  <c:v>Unknown</c:v>
                </c:pt>
                <c:pt idx="3">
                  <c:v>Web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11821.32</c:v>
                </c:pt>
                <c:pt idx="1">
                  <c:v>33336.56</c:v>
                </c:pt>
                <c:pt idx="2">
                  <c:v>924.73</c:v>
                </c:pt>
                <c:pt idx="3">
                  <c:v>29263.89</c:v>
                </c:pt>
              </c:numCache>
            </c:numRef>
          </c:val>
        </c:ser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in val="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order value (SGD)</c:v>
                </c:pt>
              </c:strCache>
            </c:strRef>
          </c:tx>
          <c:spPr>
            <a:solidFill>
              <a:srgbClr val="0F766E"/>
            </a:solidFill>
          </c:spPr>
          <c:cat>
            <c:strRef>
              <c:f>Sheet1!$A$2:$A$4</c:f>
              <c:strCache>
                <c:ptCount val="3"/>
                <c:pt idx="0">
                  <c:v>Core</c:v>
                </c:pt>
                <c:pt idx="1">
                  <c:v>At risk</c:v>
                </c:pt>
                <c:pt idx="2">
                  <c:v>High value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163.62966666666668</c:v>
                </c:pt>
                <c:pt idx="1">
                  <c:v>197.90045454545455</c:v>
                </c:pt>
                <c:pt idx="2">
                  <c:v>272.4275</c:v>
                </c:pt>
              </c:numCache>
            </c:numRef>
          </c:val>
        </c:ser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in val="0.0"/>
        </c:scaling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(SGD)</c:v>
                </c:pt>
              </c:strCache>
            </c:strRef>
          </c:tx>
          <c:spPr>
            <a:solidFill>
              <a:srgbClr val="0F766E"/>
            </a:solidFill>
          </c:spPr>
          <c:cat>
            <c:strRef>
              <c:f>Sheet1!$A$2:$A$4</c:f>
              <c:strCache>
                <c:ptCount val="3"/>
                <c:pt idx="0">
                  <c:v>Home</c:v>
                </c:pt>
                <c:pt idx="1">
                  <c:v>Technology</c:v>
                </c:pt>
                <c:pt idx="2">
                  <c:v>Wellness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33256.65</c:v>
                </c:pt>
                <c:pt idx="1">
                  <c:v>27194.17</c:v>
                </c:pt>
                <c:pt idx="2">
                  <c:v>29536.670000000002</c:v>
                </c:pt>
              </c:numCache>
            </c:numRef>
          </c:val>
        </c:ser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in val="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SLA rate</c:v>
                </c:pt>
              </c:strCache>
            </c:strRef>
          </c:tx>
          <c:spPr>
            <a:solidFill>
              <a:srgbClr val="0F766E"/>
            </a:solidFill>
          </c:spPr>
          <c:cat>
            <c:strRef>
              <c:f>Sheet1!$A$2:$A$4</c:f>
              <c:strCache>
                <c:ptCount val="3"/>
                <c:pt idx="0">
                  <c:v>Fulfilment</c:v>
                </c:pt>
                <c:pt idx="1">
                  <c:v>Payments</c:v>
                </c:pt>
                <c:pt idx="2">
                  <c:v>Accounts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0.7586206896551724</c:v>
                </c:pt>
                <c:pt idx="1">
                  <c:v>0.8144329896907216</c:v>
                </c:pt>
                <c:pt idx="2">
                  <c:v>0.8352941176470589</c:v>
                </c:pt>
              </c:numCache>
            </c:numRef>
          </c:val>
        </c:ser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1.0"/>
          <c:min val="0.0"/>
        </c:scaling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Variance (SGD)</c:v>
                </c:pt>
              </c:strCache>
            </c:strRef>
          </c:tx>
          <c:spPr>
            <a:solidFill>
              <a:srgbClr val="0F766E"/>
            </a:solidFill>
          </c:spPr>
          <c:cat>
            <c:strRef>
              <c:f>Sheet1!$A$2:$A$4</c:f>
              <c:strCache>
                <c:ptCount val="3"/>
                <c:pt idx="0">
                  <c:v>Central</c:v>
                </c:pt>
                <c:pt idx="1">
                  <c:v>East</c:v>
                </c:pt>
                <c:pt idx="2">
                  <c:v>North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45078.30000000005</c:v>
                </c:pt>
                <c:pt idx="1">
                  <c:v>5750.229999999981</c:v>
                </c:pt>
                <c:pt idx="2">
                  <c:v>3766.780000000028</c:v>
                </c:pt>
              </c:numCache>
            </c:numRef>
          </c:val>
        </c:ser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in val="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Pearson r</c:v>
                </c:pt>
              </c:strCache>
            </c:strRef>
          </c:tx>
          <c:spPr>
            <a:solidFill>
              <a:srgbClr val="0F766E"/>
            </a:solidFill>
          </c:spPr>
          <c:cat>
            <c:strRef>
              <c:f>Sheet1!$A$2:$A$5</c:f>
              <c:strCache>
                <c:ptCount val="4"/>
                <c:pt idx="0">
                  <c:v>spend</c:v>
                </c:pt>
                <c:pt idx="1">
                  <c:v>impressions</c:v>
                </c:pt>
                <c:pt idx="2">
                  <c:v>clicks</c:v>
                </c:pt>
                <c:pt idx="3">
                  <c:v>revenue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0.5594829178582549</c:v>
                </c:pt>
                <c:pt idx="1">
                  <c:v>0.6621036225319031</c:v>
                </c:pt>
                <c:pt idx="2">
                  <c:v>0.8784604256215933</c:v>
                </c:pt>
                <c:pt idx="3">
                  <c:v>0.9276172222826592</c:v>
                </c:pt>
              </c:numCache>
            </c:numRef>
          </c:val>
        </c:ser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1.0"/>
          <c:min val="-1.0"/>
        </c:scaling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numFmt formatCode="0.00;-0.00;0.0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068027336"/>
        <c:crosses val="autoZero"/>
        <c:majorUnit val="0.25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minutes</c:v>
                </c:pt>
              </c:strCache>
            </c:strRef>
          </c:tx>
          <c:spPr>
            <a:solidFill>
              <a:srgbClr val="0F766E"/>
            </a:solidFill>
          </c:spPr>
          <c:cat>
            <c:strRef>
              <c:f>Sheet1!$A$2:$A$4</c:f>
              <c:strCache>
                <c:ptCount val="3"/>
                <c:pt idx="0">
                  <c:v>Chat</c:v>
                </c:pt>
                <c:pt idx="1">
                  <c:v>Email</c:v>
                </c:pt>
                <c:pt idx="2">
                  <c:v>Phone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23.7175</c:v>
                </c:pt>
                <c:pt idx="1">
                  <c:v>116.31020408163263</c:v>
                </c:pt>
                <c:pt idx="2">
                  <c:v>39.21208791208792</c:v>
                </c:pt>
              </c:numCache>
            </c:numRef>
          </c:val>
        </c:ser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in val="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max kW</c:v>
                </c:pt>
              </c:strCache>
            </c:strRef>
          </c:tx>
          <c:spPr>
            <a:solidFill>
              <a:srgbClr val="0F766E"/>
            </a:solidFill>
          </c:spPr>
          <c:cat>
            <c:strRef>
              <c:f>Sheet1!$A$2:$A$11</c:f>
              <c:strCache>
                <c:ptCount val="10"/>
                <c:pt idx="0">
                  <c:v>2026-03-22</c:v>
                </c:pt>
                <c:pt idx="1">
                  <c:v>2026-03-23</c:v>
                </c:pt>
                <c:pt idx="2">
                  <c:v>2026-03-24</c:v>
                </c:pt>
                <c:pt idx="3">
                  <c:v>2026-03-25</c:v>
                </c:pt>
                <c:pt idx="4">
                  <c:v>2026-03-26</c:v>
                </c:pt>
                <c:pt idx="5">
                  <c:v>2026-03-27</c:v>
                </c:pt>
                <c:pt idx="6">
                  <c:v>2026-03-28</c:v>
                </c:pt>
                <c:pt idx="7">
                  <c:v>2026-03-29</c:v>
                </c:pt>
                <c:pt idx="8">
                  <c:v>2026-03-30</c:v>
                </c:pt>
                <c:pt idx="9">
                  <c:v>2026-03-31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641.1</c:v>
                </c:pt>
                <c:pt idx="1">
                  <c:v>730.4</c:v>
                </c:pt>
                <c:pt idx="2">
                  <c:v>767.5</c:v>
                </c:pt>
                <c:pt idx="3">
                  <c:v>729.2</c:v>
                </c:pt>
                <c:pt idx="4">
                  <c:v>774.6</c:v>
                </c:pt>
                <c:pt idx="5">
                  <c:v>733.3</c:v>
                </c:pt>
                <c:pt idx="6">
                  <c:v>646.7</c:v>
                </c:pt>
                <c:pt idx="7">
                  <c:v>692.2</c:v>
                </c:pt>
                <c:pt idx="8">
                  <c:v>744.4</c:v>
                </c:pt>
                <c:pt idx="9">
                  <c:v>757.0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Late rate</c:v>
                </c:pt>
              </c:strCache>
            </c:strRef>
          </c:tx>
          <c:spPr>
            <a:solidFill>
              <a:srgbClr val="0F766E"/>
            </a:solidFill>
          </c:spPr>
          <c:cat>
            <c:strRef>
              <c:f>Sheet1!$A$2:$A$4</c:f>
              <c:strCache>
                <c:ptCount val="3"/>
                <c:pt idx="0">
                  <c:v>Changi</c:v>
                </c:pt>
                <c:pt idx="1">
                  <c:v>Tuas</c:v>
                </c:pt>
                <c:pt idx="2">
                  <c:v>Woodlands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0.4642857142857143</c:v>
                </c:pt>
                <c:pt idx="1">
                  <c:v>0.4482758620689655</c:v>
                </c:pt>
                <c:pt idx="2">
                  <c:v>0.379746835443038</c:v>
                </c:pt>
              </c:numCache>
            </c:numRef>
          </c:val>
        </c:ser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1.0"/>
          <c:min val="0.0"/>
        </c:scaling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Wellbeing score</c:v>
                </c:pt>
              </c:strCache>
            </c:strRef>
          </c:tx>
          <c:spPr>
            <a:solidFill>
              <a:srgbClr val="0F766E"/>
            </a:solidFill>
          </c:spPr>
          <c:cat>
            <c:strRef>
              <c:f>Sheet1!$A$2:$A$5</c:f>
              <c:strCache>
                <c:ptCount val="4"/>
                <c:pt idx="0">
                  <c:v>Secondary 1</c:v>
                </c:pt>
                <c:pt idx="1">
                  <c:v>Secondary 2</c:v>
                </c:pt>
                <c:pt idx="2">
                  <c:v>Secondary 3</c:v>
                </c:pt>
                <c:pt idx="3">
                  <c:v>Secondary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80.38970588235294</c:v>
                </c:pt>
                <c:pt idx="1">
                  <c:v>81.01818181818182</c:v>
                </c:pt>
                <c:pt idx="2">
                  <c:v>78.32439024390244</c:v>
                </c:pt>
                <c:pt idx="3">
                  <c:v>79.84857142857142</c:v>
                </c:pt>
              </c:numCache>
            </c:numRef>
          </c:val>
        </c:ser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in val="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C193-Python-Data-Analysis-Masterclass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8" y="219456"/>
            <a:ext cx="6592824" cy="64190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93208" y="219456"/>
            <a:ext cx="1051560" cy="6419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66928"/>
            <a:ext cx="749808" cy="7498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664208"/>
            <a:ext cx="4800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NON-WSQ COURSE SLIDES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029968"/>
            <a:ext cx="4937760" cy="20574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500" b="1">
                <a:solidFill>
                  <a:srgbClr val="111827"/>
                </a:solidFill>
                <a:latin typeface="Arial"/>
              </a:rPr>
              <a:t>Python Data Analysis Masterclass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242816"/>
            <a:ext cx="2057400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535424"/>
            <a:ext cx="4709160" cy="10515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Course Code: C193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Trainer: 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5623560"/>
            <a:ext cx="46634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Version v1.0 · 30 September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6016752"/>
            <a:ext cx="4663440" cy="3108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11827"/>
                </a:solidFill>
                <a:latin typeface="Arial"/>
              </a:rPr>
              <a:t>Tertiary Infotech Academy Pte Ltd · UEN 201200696W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148840"/>
            <a:ext cx="118872" cy="1965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88696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4F46E5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9784080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11827"/>
                </a:solidFill>
                <a:latin typeface="Arial"/>
              </a:rPr>
              <a:t>Welcome &amp; Course Orientation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GENERAL TRAINER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10128" cy="432511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45920" y="2212848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212848"/>
            <a:ext cx="1554480" cy="15544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50791"/>
            <a:ext cx="2852928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11827"/>
                </a:solidFill>
                <a:latin typeface="Arial"/>
              </a:rPr>
              <a:t>Your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17720"/>
            <a:ext cx="2852928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before class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83080"/>
            <a:ext cx="7040880" cy="56692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828800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F46E5"/>
                </a:solidFill>
                <a:latin typeface="Arial"/>
              </a:rPr>
              <a:t>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28800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487168"/>
            <a:ext cx="7040880" cy="56692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53288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TITLE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532888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191256"/>
            <a:ext cx="7040880" cy="56692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3236976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EA5E9"/>
                </a:solidFill>
                <a:latin typeface="Arial"/>
              </a:rPr>
              <a:t>QUALIFICATIONS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236976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895344"/>
            <a:ext cx="7040880" cy="56692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3941064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EXPERTISE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941064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599432"/>
            <a:ext cx="7040880" cy="56692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2" y="4645152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F46E5"/>
                </a:solidFill>
                <a:latin typeface="Arial"/>
              </a:rPr>
              <a:t>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645152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5303520"/>
            <a:ext cx="7040880" cy="56692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5349240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CONTACT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5349240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NAMED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10128" cy="432511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45920" y="2212848"/>
            <a:ext cx="1554480" cy="15544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212848"/>
            <a:ext cx="1554480" cy="15544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50791"/>
            <a:ext cx="2852928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11827"/>
                </a:solidFill>
                <a:latin typeface="Arial"/>
              </a:rPr>
              <a:t>Dr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17720"/>
            <a:ext cx="2852928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83080"/>
            <a:ext cx="7040880" cy="56692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828800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F46E5"/>
                </a:solidFill>
                <a:latin typeface="Arial"/>
              </a:rPr>
              <a:t>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28800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11827"/>
                </a:solidFill>
                <a:latin typeface="Arial"/>
              </a:rPr>
              <a:t>Principal Trainer and Chief Instructional Designer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487168"/>
            <a:ext cx="7040880" cy="56692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53288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EXPERTISE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532888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11827"/>
                </a:solidFill>
                <a:latin typeface="Arial"/>
              </a:rPr>
              <a:t>Data analytics, Python, AI and decision support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191256"/>
            <a:ext cx="7040880" cy="56692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3236976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EA5E9"/>
                </a:solidFill>
                <a:latin typeface="Arial"/>
              </a:rPr>
              <a:t>CERTIFICATION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236976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11827"/>
                </a:solidFill>
                <a:latin typeface="Arial"/>
              </a:rPr>
              <a:t>ACLP-certified adult educator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895344"/>
            <a:ext cx="7040880" cy="56692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3941064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DELIVERS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941064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11827"/>
                </a:solidFill>
                <a:latin typeface="Arial"/>
              </a:rPr>
              <a:t>Professional technology programmes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599432"/>
            <a:ext cx="7040880" cy="56692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2" y="4645152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F46E5"/>
                </a:solidFill>
                <a:latin typeface="Arial"/>
              </a:rPr>
              <a:t>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645152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11827"/>
                </a:solidFill>
                <a:latin typeface="Arial"/>
              </a:rPr>
              <a:t>Cross-industry analytics and workforce training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5303520"/>
            <a:ext cx="7040880" cy="56692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5349240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CONTACT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5349240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11827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Your work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 and decisions you support.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Python baseline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Scripts, notebooks or pandas.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Data challenge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recurring reporting problem.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Outcome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you want to do reliably.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Be present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Return from breaks on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Participate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Ask, test and explain.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Respect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Protect data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supplied synthetic data.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Save 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Retain scripts and outputs.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Learn by doing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Run and inspect the code.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Lesson Plan — 2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DAY 1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9:30–11:00 · pandas foundations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11:00–12:45 · Prepare and clean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2" y="4187952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133088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1:15–3:05 · Transform and summarise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2" y="4974336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974336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919472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3:05–5:30 · Visualisation labs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DAY 2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9:30–11:25 · Statistics and distributions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11:25–2:50 · Time-series analysis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4187952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6016" y="4133088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2:50–5:15 · Advanced pipeline and capstone</a:t>
            </a:r>
          </a:p>
        </p:txBody>
      </p:sp>
      <p:sp>
        <p:nvSpPr>
          <p:cNvPr id="34" name="Oval 33"/>
          <p:cNvSpPr/>
          <p:nvPr/>
        </p:nvSpPr>
        <p:spPr>
          <a:xfrm>
            <a:off x="6492240" y="4974336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974336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86016" y="4919472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5:15–5:30 · Course recap and feedback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LMS / 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4F46E5"/>
                </a:solidFill>
                <a:latin typeface="Arial"/>
              </a:rPr>
              <a:t>1 · Sign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F46E5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Open the LMS/TMS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F46E5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Use your learner 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F46E5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Select this course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3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F766E"/>
                </a:solidFill>
                <a:latin typeface="Arial"/>
              </a:rPr>
              <a:t>2 · Download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Open Courseware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Download slides and Learner Guide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1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Save beside lab folders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2166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EA5E9"/>
                </a:solidFill>
                <a:latin typeface="Arial"/>
              </a:rPr>
              <a:t>3 · 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EA5E9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Check C193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EA5E9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Use current v1.0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4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EA5E9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Ask if a file differs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28" name="Rounded Rectangle 27">
            <a:hlinkClick r:id="rId2"/>
          </p:cNvPr>
          <p:cNvSpPr/>
          <p:nvPr/>
        </p:nvSpPr>
        <p:spPr>
          <a:xfrm>
            <a:off x="3822191" y="5833872"/>
            <a:ext cx="4553712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13632" y="5843016"/>
            <a:ext cx="43708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4F46E5"/>
                </a:solidFill>
                <a:latin typeface="Arial"/>
                <a:hlinkClick r:id="rId2"/>
              </a:rPr>
              <a:t>OPEN LMS / TMS PORTAL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COURSE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Access the Python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4F46E5"/>
                </a:solidFill>
                <a:latin typeface="Arial"/>
              </a:rPr>
              <a:t>Clone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F46E5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Clone the GitHub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F46E5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Open labs/Lab-XX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F46E5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Run lab.py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3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F766E"/>
                </a:solidFill>
                <a:latin typeface="Arial"/>
              </a:rPr>
              <a:t>Download ZIP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GitHub &gt; Code &gt; Download ZIP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Extract the folder tree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1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Keep data with each script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2166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EA5E9"/>
                </a:solidFill>
                <a:latin typeface="Arial"/>
              </a:rPr>
              <a:t>Lab discipline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EA5E9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Use LG for detailed procedures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EA5E9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Retain outputs as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4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EA5E9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All data is synthetic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28" name="Rounded Rectangle 27">
            <a:hlinkClick r:id="rId2"/>
          </p:cNvPr>
          <p:cNvSpPr/>
          <p:nvPr/>
        </p:nvSpPr>
        <p:spPr>
          <a:xfrm>
            <a:off x="3822191" y="5833872"/>
            <a:ext cx="4553712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13632" y="5843016"/>
            <a:ext cx="43708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4F46E5"/>
                </a:solidFill>
                <a:latin typeface="Arial"/>
                <a:hlinkClick r:id="rId2"/>
              </a:rPr>
              <a:t>OPEN COURSE REPOSITORY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148840"/>
            <a:ext cx="118872" cy="1965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88696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4F46E5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9784080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11827"/>
                </a:solidFill>
                <a:latin typeface="Arial"/>
              </a:rPr>
              <a:t>Data Preparation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959352"/>
            <a:ext cx="9692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pandas foundations · import/export · selection · filtering · cleaning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Key Concepts — Data Preparation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827"/>
                </a:solidFill>
                <a:latin typeface="Arial"/>
              </a:rPr>
              <a:t>Analytical workflow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Frame the decision, acquire data, prepare, analyse, visualise, interpret and review.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827"/>
                </a:solidFill>
                <a:latin typeface="Arial"/>
              </a:rPr>
              <a:t>Series and DataFrame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labelled one- and two-dimensional structures with explicit indexes and data types.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827"/>
                </a:solidFill>
                <a:latin typeface="Arial"/>
              </a:rPr>
              <a:t>Import and export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Read and write CSV, Excel and JSON while preserving schema, provenance and encoding.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827"/>
                </a:solidFill>
                <a:latin typeface="Arial"/>
              </a:rPr>
              <a:t>Selection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columns, loc and iloc intentionally; distinguish labels from integer positions.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827"/>
                </a:solidFill>
                <a:latin typeface="Arial"/>
              </a:rPr>
              <a:t>Filtering and slicing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Translate business conditions into reproducible Boolean masks and bounded subsets.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827"/>
                </a:solidFill>
                <a:latin typeface="Arial"/>
              </a:rPr>
              <a:t>Cleaning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Profile missingness, duplicates, invalid types and ranges before applying documented rules.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Analytics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Frame: Define the decision and grain.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Acquire: Record source and provenance.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DECISION / CONTROL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Prepare: Profile, clean and validate.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Interpret: State finding and limitation.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Python analytics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4F46E5"/>
                </a:solidFill>
                <a:latin typeface="Arial"/>
              </a:rPr>
              <a:t>NumPy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F46E5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Arrays and numerical operations.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F766E"/>
                </a:solidFill>
                <a:latin typeface="Arial"/>
              </a:rPr>
              <a:t>pandas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Labelled tables and transformations.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EA5E9"/>
                </a:solidFill>
                <a:latin typeface="Arial"/>
              </a:rPr>
              <a:t>Matplotlib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EA5E9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Figure and axes control.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Series and DataFrame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Series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labelled dimension.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DataFrame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Rows by columns.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Index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Labels used for alignment.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Schema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Names, types and rules.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Import and export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CSV: Portable text; validate encoding.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Excel: Sheets and formats.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DECISION / CONTROL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JSON: Nested records may need normalisation.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Parquet: Typed and compressed.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Inspect before changing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4F46E5"/>
                </a:solidFill>
                <a:latin typeface="Arial"/>
              </a:rPr>
              <a:t>head / 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F46E5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Preview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F766E"/>
                </a:solidFill>
                <a:latin typeface="Arial"/>
              </a:rPr>
              <a:t>shape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Confirm dimensions.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EA5E9"/>
                </a:solidFill>
                <a:latin typeface="Arial"/>
              </a:rPr>
              <a:t>info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EA5E9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Review types and nulls.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Select and slice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Columns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Select one or many fields.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loc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Label-based selection.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iloc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Position-based selection.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Slice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a bounded subset.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Filter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Boolean mask: Reproducible conditions.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between: Readable numeric bounds.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DECISION / CONTROL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isin: Approved category set.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Combine: Use parenthesised &amp; | ~.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Missing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4F46E5"/>
                </a:solidFill>
                <a:latin typeface="Arial"/>
              </a:rP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F46E5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Use isna and notna.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F766E"/>
                </a:solidFill>
                <a:latin typeface="Arial"/>
              </a:rPr>
              <a:t>Remove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Only under a clear rule.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EA5E9"/>
                </a:solidFill>
                <a:latin typeface="Arial"/>
              </a:rPr>
              <a:t>Impute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EA5E9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Document the chosen method.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Clean and validate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Duplicates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Test declared keys.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Types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Convert with controlled errors.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Ranges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Expose impossible values.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Reconcile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Explain every changed total.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Analytics, reporting, BI and data science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Reporting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Describes agreed metrics from known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Business intelligence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Explores patterns through governed dashboards.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Analytics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Tests questions and explains decision-relevant variation.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Data science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Builds and evaluates models or data products.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Decision-first analytical framing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Decision: What action could change?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Question: What must be learned?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Evidence: Which measure and comparison answer it?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Guardrail: What must not worsen?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Observational unit and data grain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FOUNDATION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Unit: The entity or event represented by one observation.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Grain: The exact level of detail in each row.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INTERPRETATION / CONTROL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Key: Fields expected to identify one row at that grain.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Measure: A value meaningful at the declared grain.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Data quality dimensions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Completeness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Required values are present.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Validity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Values follow type, range and format rules.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Uniqueness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Declared entities are not duplicated.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Values agree across fields and sources.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Missing data is an analytical signal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FOUNDATION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MCAR: Missingness is unrelated to observed or unobserved values.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MAR: Missingness can be explained by observed variables.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INTERPRETATION / CONTROL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MNAR: Missingness relates to the unseen value itself.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Response: Drop, impute, flag or redesign with documented impact.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Duplicate records and business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Exact duplicate: Every field repeats.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Key duplicate: Declared identifier repeats.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Legitimate repeat: Same entity, different event or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Resolution: Keep, aggregate or reject by rule.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Types, categories and encoding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Numeric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Supports meaningful arithmetic.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Categorical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Represents a controlled set of labels.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Datetime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Preserves calendar and interval semantics.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Boolean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Stores explicit true or false states.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Reconciliation and an audit trail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FOUNDATION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Before: Record row count, key count and control totals.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Change: Name the rule and affected records.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INTERPRETATION / CONTROL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After: Recalculate the same controls.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Explain: Account for every difference and exception.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Population, sample and selection bias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Population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 units the claim is intended to cover.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Sample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Observed units used in the analysis.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Sampling frame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Operational list from which units can enter.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Selection bias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Inclusion relates to the outcome or exposure.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A5E9"/>
                </a:solidFill>
                <a:latin typeface="Arial"/>
              </a:rPr>
              <a:t>TOPIC 01 · PANDAS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Clean revenue by channel (SGD)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28800"/>
          <a:ext cx="740664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85632" y="1828800"/>
            <a:ext cx="2926080" cy="41605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2167128"/>
            <a:ext cx="233172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A5E9"/>
                </a:solidFill>
                <a:latin typeface="Arial"/>
              </a:rPr>
              <a:t>PYTHON → 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670048"/>
            <a:ext cx="2331720" cy="21488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11827"/>
                </a:solidFill>
                <a:latin typeface="Arial"/>
              </a:rPr>
              <a:t>A cleaned table should reconcile before it is visualised.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5129784"/>
            <a:ext cx="233172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native PowerPoint chart derived from pandas output.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A5E9"/>
                </a:solidFill>
                <a:latin typeface="Arial"/>
              </a:rPr>
              <a:t>TOPIC 01 · PANDAS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Customer segment value (SGD)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28800"/>
          <a:ext cx="740664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85632" y="1828800"/>
            <a:ext cx="2926080" cy="41605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2167128"/>
            <a:ext cx="233172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A5E9"/>
                </a:solidFill>
                <a:latin typeface="Arial"/>
              </a:rPr>
              <a:t>PYTHON → 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670048"/>
            <a:ext cx="2331720" cy="21488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11827"/>
                </a:solidFill>
                <a:latin typeface="Arial"/>
              </a:rPr>
              <a:t>A zero baseline keeps segment magnitude honest.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5129784"/>
            <a:ext cx="233172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native PowerPoint chart derived from pandas output.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slow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LAB 01 · CONCEPT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Profile and Clean Retail Transactions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6720840" cy="40233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57984"/>
            <a:ext cx="612648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11827"/>
                </a:solidFill>
                <a:latin typeface="Arial"/>
              </a:rPr>
              <a:t>Audit a synthetic omnichannel retail extract, repair missing and invalid values, remove duplicate records and preserve an exception log.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675887"/>
            <a:ext cx="6126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F46E5"/>
                </a:solidFill>
                <a:latin typeface="Arial"/>
              </a:rPr>
              <a:t>YOU WILL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069080"/>
            <a:ext cx="6126480" cy="10515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11827"/>
                </a:solidFill>
                <a:latin typeface="Arial"/>
              </a:rPr>
              <a:t>A clean retail DataFrame, data-quality summary and before/after revenue comparison chart.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5358384"/>
            <a:ext cx="6126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TOOLS  </a:t>
            </a:r>
            <a:r>
              <a:rPr sz="1000" b="0">
                <a:solidFill>
                  <a:srgbClr val="5B6372"/>
                </a:solidFill>
                <a:latin typeface="Arial"/>
              </a:rPr>
              <a:t>Python, pandas, Matplotlib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828800"/>
            <a:ext cx="3611880" cy="4023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98280" y="2240280"/>
            <a:ext cx="1005840" cy="10058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240280"/>
            <a:ext cx="1005840" cy="10058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566160"/>
            <a:ext cx="297180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ACCEPTANCE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4041648"/>
            <a:ext cx="2926080" cy="12984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The script runs without error, clean_data.csv has unique order IDs, critical fields are complete and the quality report reconciles every change.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LAB 02 · CONCEPT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Select, Filter and Segment Customer Orders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6720840" cy="40233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57984"/>
            <a:ext cx="612648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11827"/>
                </a:solidFill>
                <a:latin typeface="Arial"/>
              </a:rPr>
              <a:t>Use label-based and position-based selection, Boolean filters and slicing to answer a realistic customer-retention question.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675887"/>
            <a:ext cx="6126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F46E5"/>
                </a:solidFill>
                <a:latin typeface="Arial"/>
              </a:rPr>
              <a:t>YOU WILL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069080"/>
            <a:ext cx="6126480" cy="10515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11827"/>
                </a:solidFill>
                <a:latin typeface="Arial"/>
              </a:rPr>
              <a:t>Reusable customer segments and a chart comparing average order value by segment.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5358384"/>
            <a:ext cx="6126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TOOLS  </a:t>
            </a:r>
            <a:r>
              <a:rPr sz="1000" b="0">
                <a:solidFill>
                  <a:srgbClr val="5B6372"/>
                </a:solidFill>
                <a:latin typeface="Arial"/>
              </a:rPr>
              <a:t>Python, pandas, Matplotlib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828800"/>
            <a:ext cx="3611880" cy="4023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98280" y="2240280"/>
            <a:ext cx="1005840" cy="10058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240280"/>
            <a:ext cx="1005840" cy="10058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566160"/>
            <a:ext cx="297180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ACCEPTANCE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4041648"/>
            <a:ext cx="2926080" cy="12984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The loc and iloc samples are saved, every segment rule is reproducible and the chart uses an honest zero baseline.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slow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Recap — Data Preparation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Analytical workflow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Runnable Python and pandas outputs.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 to the next analytical layer.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slow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148840"/>
            <a:ext cx="118872" cy="1965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88696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4F46E5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9784080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11827"/>
                </a:solidFill>
                <a:latin typeface="Arial"/>
              </a:rPr>
              <a:t>Data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959352"/>
            <a:ext cx="9692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concat · merge · sort · groupby · aggregation · pivot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slow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Key Concepts — Data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827"/>
                </a:solidFill>
                <a:latin typeface="Arial"/>
              </a:rPr>
              <a:t>Concatenate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Append compatible records by row or combine aligned features by column.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827"/>
                </a:solidFill>
                <a:latin typeface="Arial"/>
              </a:rPr>
              <a:t>Merge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Join tables on validated keys and inspect cardinality, unmatched records and duplicated rows.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827"/>
                </a:solidFill>
                <a:latin typeface="Arial"/>
              </a:rPr>
              <a:t>Sort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Order data by one or more fields without confusing row order with analytical importance.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827"/>
                </a:solidFill>
                <a:latin typeface="Arial"/>
              </a:rPr>
              <a:t>GroupBy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Split data into meaningful segments, apply measures and combine the results.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827"/>
                </a:solidFill>
                <a:latin typeface="Arial"/>
              </a:rPr>
              <a:t>Aggregation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named aggregations so each metric, denominator and output column is explicit.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827"/>
                </a:solidFill>
                <a:latin typeface="Arial"/>
              </a:rPr>
              <a:t>Pivot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Reshape long and wide data for comparison while retaining the underlying grain.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slow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Concatenate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Rows: Append compatible extracts.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Columns: Combine aligned features.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DECISION / CONTROL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Index: Labels control alignment.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Schema: Standardise before concat.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slow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Merge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4F46E5"/>
                </a:solidFill>
                <a:latin typeface="Arial"/>
              </a:rPr>
              <a:t>Left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F46E5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Keep the analytical base.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F766E"/>
                </a:solidFill>
                <a:latin typeface="Arial"/>
              </a:rPr>
              <a:t>Inner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Keep matched records only.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EA5E9"/>
                </a:solidFill>
                <a:latin typeface="Arial"/>
              </a:rPr>
              <a:t>Outer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EA5E9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Expose all exceptions.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slow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Join cardinality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One-to-one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Unique keys on both sides.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Many-to-one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Transactions to master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One-to-many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Entity to events.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Many-to-many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May multiply rows.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slow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Key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Complete: Required keys populated.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Consistent: Case, spaces and type agree.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DECISION / CONTROL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Unique: Reference keys meet contract.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Stable: Meaning does not drift.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slow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Sort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4F46E5"/>
                </a:solidFill>
                <a:latin typeface="Arial"/>
              </a:rPr>
              <a:t>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F46E5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Order by one or more fields.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F766E"/>
                </a:solidFill>
                <a:latin typeface="Arial"/>
              </a:rPr>
              <a:t>Direction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Ascending can vary by field.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EA5E9"/>
                </a:solidFill>
                <a:latin typeface="Arial"/>
              </a:rPr>
              <a:t>Missing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EA5E9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Choose visible placement.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slow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Split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Partition by category.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Apply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Calculate group measures.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Combine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Return a summary.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Grain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Know each result row.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slow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Named aggregation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Count: Population size.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Mean/median: Typical value.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DECISION / CONTROL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Rate: Make denominator explicit.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Names: Use decision-ready outputs.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slow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Pivot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4F46E5"/>
                </a:solidFill>
                <a:latin typeface="Arial"/>
              </a:rPr>
              <a:t>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F46E5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Primary row grouping.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F766E"/>
                </a:solidFill>
                <a:latin typeface="Arial"/>
              </a:rPr>
              <a:t>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Comparison dimension.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EA5E9"/>
                </a:solidFill>
                <a:latin typeface="Arial"/>
              </a:rPr>
              <a:t>Values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EA5E9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Measure to aggregate.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slow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Long and wide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Long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observation per row.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Wide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Category per column.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melt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Wide to long.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pivot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Long to wide.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slow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Tidy data and long-form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Variable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Each measured attribute has its own column.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Observation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Each unit at the declared grain has one row.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Value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Each cell contains one value.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Table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Each observational unit has a coherent table.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slow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Choose a join from the business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Base: Which table defines the required population?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Match: Which key expresses the relationship?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Join: Left, inner or outer based on the decision.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Audit: Inspect matched and unmatched records.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slow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Join cardinality and row multiplication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FOUNDATION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1 × 1: One key on each side produces at most one row.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n × 1: Many transactions map to one reference record.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INTERPRETATION / CONTROL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1 × n: One entity expands into several valid events.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n × n: Repeated keys on both sides can multiply rows.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slow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Unmatched-record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Left only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Base records with no reference match.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Right only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Reference records never used by the base.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Both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Successfully matched records.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Disposition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Correct, enrich, exclude or escalate by rule.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slow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Aggregation grain and denominator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FOUNDATION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Group: Dimensions defining each result row.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Measure: Count, sum, mean, median or rate.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INTERPRETATION / CONTROL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Denominator: Eligible observations behind a rate or mean.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Reconcile: Group results must explain the base population.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slow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Weighted and unweighted averages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3794760" cy="4160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76272"/>
            <a:ext cx="3182112" cy="3108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FORMULA / WORKED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743200"/>
            <a:ext cx="3310128" cy="15361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111827"/>
                </a:solidFill>
                <a:latin typeface="Arial"/>
              </a:rPr>
              <a:t>x̄w = Σ(wᵢxᵢ) / Σwᵢ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09160"/>
            <a:ext cx="3154680" cy="6858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Interpret the quantity, unit, population and assumptions before using the 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847088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38928" y="2039112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38928" y="2039112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42432" y="1929384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Unweighted: </a:t>
            </a:r>
            <a:r>
              <a:rPr sz="1300" b="0">
                <a:solidFill>
                  <a:srgbClr val="5B6372"/>
                </a:solidFill>
                <a:latin typeface="Arial"/>
              </a:rPr>
              <a:t>Every group mean receives equal influence.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2834640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38928" y="3026664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8" y="3026664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42432" y="2916936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Weighted: </a:t>
            </a:r>
            <a:r>
              <a:rPr sz="1300" b="0">
                <a:solidFill>
                  <a:srgbClr val="5B6372"/>
                </a:solidFill>
                <a:latin typeface="Arial"/>
              </a:rPr>
              <a:t>Influence follows an exposure such as students or sales.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3822192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38928" y="4014216"/>
            <a:ext cx="402336" cy="402336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8928" y="4014216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42432" y="3904488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Weight: </a:t>
            </a:r>
            <a:r>
              <a:rPr sz="1300" b="0">
                <a:solidFill>
                  <a:srgbClr val="5B6372"/>
                </a:solidFill>
                <a:latin typeface="Arial"/>
              </a:rPr>
              <a:t>Must reflect the decision and be non-negative.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4809744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38928" y="5001768"/>
            <a:ext cx="402336" cy="40233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001768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42432" y="4892040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Check: </a:t>
            </a:r>
            <a:r>
              <a:rPr sz="1300" b="0">
                <a:solidFill>
                  <a:srgbClr val="5B6372"/>
                </a:solidFill>
                <a:latin typeface="Arial"/>
              </a:rPr>
              <a:t>Report total weight and compare both results.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slow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Rates, proportions and explicit bases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FOUNDATION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Numerator: Events meeting the stated condition.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Denominator: Eligible opportunities for that event.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INTERPRETATION / CONTROL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Period: Time window shared by numerator and base.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Exclusions: Missing or ineligible records disclosed.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slow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GroupBy, pivot table and crosstab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GroupBy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Flexible split-apply-combine calculations.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Pivot table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Matrix summary with explicit aggregation.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Crosstab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Counts or proportions for categorical combinations.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Reshape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melt and pivot change layout, not meaning.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slow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Transformation pipeline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Contract: Assert required columns and types.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Transform: Use named, pure stages.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Validate: Check grain, ranges and reconciliations.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Publish: Save outputs with provenance and limitations.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slow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A5E9"/>
                </a:solidFill>
                <a:latin typeface="Arial"/>
              </a:rPr>
              <a:t>TOPIC 02 · PANDAS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Revenue after dataset integration (SGD)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28800"/>
          <a:ext cx="740664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85632" y="1828800"/>
            <a:ext cx="2926080" cy="41605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2167128"/>
            <a:ext cx="233172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A5E9"/>
                </a:solidFill>
                <a:latin typeface="Arial"/>
              </a:rPr>
              <a:t>PYTHON → 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670048"/>
            <a:ext cx="2331720" cy="21488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11827"/>
                </a:solidFill>
                <a:latin typeface="Arial"/>
              </a:rPr>
              <a:t>Validated joins make the aggregated result defensible.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5129784"/>
            <a:ext cx="233172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native PowerPoint chart derived from pandas output.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slow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A5E9"/>
                </a:solidFill>
                <a:latin typeface="Arial"/>
              </a:rPr>
              <a:t>TOPIC 02 · PANDAS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SLA rate by support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28800"/>
          <a:ext cx="740664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85632" y="1828800"/>
            <a:ext cx="2926080" cy="41605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2167128"/>
            <a:ext cx="233172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A5E9"/>
                </a:solidFill>
                <a:latin typeface="Arial"/>
              </a:rPr>
              <a:t>PYTHON → 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670048"/>
            <a:ext cx="2331720" cy="21488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11827"/>
                </a:solidFill>
                <a:latin typeface="Arial"/>
              </a:rPr>
              <a:t>Rate and workload answer different management questions.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5129784"/>
            <a:ext cx="233172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native PowerPoint chart derived from pandas output.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slow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LAB 03 · CONCEPT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Integrate Orders, Products and Targets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6720840" cy="40233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57984"/>
            <a:ext cx="612648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11827"/>
                </a:solidFill>
                <a:latin typeface="Arial"/>
              </a:rPr>
              <a:t>Join transaction, product and monthly-target tables with validated keys, cardinality checks and unmatched-record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675887"/>
            <a:ext cx="6126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F46E5"/>
                </a:solidFill>
                <a:latin typeface="Arial"/>
              </a:rPr>
              <a:t>YOU WILL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069080"/>
            <a:ext cx="6126480" cy="10515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11827"/>
                </a:solidFill>
                <a:latin typeface="Arial"/>
              </a:rPr>
              <a:t>An enriched order table, join audit and product-category performance chart.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5358384"/>
            <a:ext cx="6126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TOOLS  </a:t>
            </a:r>
            <a:r>
              <a:rPr sz="1000" b="0">
                <a:solidFill>
                  <a:srgbClr val="5B6372"/>
                </a:solidFill>
                <a:latin typeface="Arial"/>
              </a:rPr>
              <a:t>Python, pandas merge, concat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828800"/>
            <a:ext cx="3611880" cy="4023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98280" y="2240280"/>
            <a:ext cx="1005840" cy="10058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240280"/>
            <a:ext cx="1005840" cy="10058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566160"/>
            <a:ext cx="297180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ACCEPTANCE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4041648"/>
            <a:ext cx="2926080" cy="12984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Row counts reconcile, the many-to-one validations pass, unmatched keys are reported and totals before/after integration are explained.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slow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LAB 04 · CONCEPT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Summarise Service Operations with GroupBy and Pivot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6720840" cy="40233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57984"/>
            <a:ext cx="612648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11827"/>
                </a:solidFill>
                <a:latin typeface="Arial"/>
              </a:rPr>
              <a:t>Transform service-ticket data into SLA and workload summaries using named aggregations and pivot tables.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675887"/>
            <a:ext cx="6126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F46E5"/>
                </a:solidFill>
                <a:latin typeface="Arial"/>
              </a:rPr>
              <a:t>YOU WILL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069080"/>
            <a:ext cx="6126480" cy="10515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11827"/>
                </a:solidFill>
                <a:latin typeface="Arial"/>
              </a:rPr>
              <a:t>A tidy SLA scorecard, priority-by-team pivot and stacked workload chart.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5358384"/>
            <a:ext cx="6126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TOOLS  </a:t>
            </a:r>
            <a:r>
              <a:rPr sz="1000" b="0">
                <a:solidFill>
                  <a:srgbClr val="5B6372"/>
                </a:solidFill>
                <a:latin typeface="Arial"/>
              </a:rPr>
              <a:t>Python, pandas groupby, agg, pivot_table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828800"/>
            <a:ext cx="3611880" cy="4023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98280" y="2240280"/>
            <a:ext cx="1005840" cy="10058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240280"/>
            <a:ext cx="1005840" cy="10058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566160"/>
            <a:ext cx="297180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ACCEPTANCE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4041648"/>
            <a:ext cx="2926080" cy="12984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The pivot total reconciles, each metric has an explicit denominator and the SLA result is not confused with ticket volume.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slow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Recap — Data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Concatenate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Runnable Python and pandas outputs.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 to the next analytical layer.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slow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148840"/>
            <a:ext cx="118872" cy="1965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88696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4F46E5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9784080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11827"/>
                </a:solidFill>
                <a:latin typeface="Arial"/>
              </a:rPr>
              <a:t>Data Visualization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959352"/>
            <a:ext cx="9692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pandas plots · Matplotlib · Seaborn · chart choice · visual integrity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slow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Key Concepts — Data Visualization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827"/>
                </a:solidFill>
                <a:latin typeface="Arial"/>
              </a:rPr>
              <a:t>Question first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Choose the chart from the comparison, trend, distribution or relationship question.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827"/>
                </a:solidFill>
                <a:latin typeface="Arial"/>
              </a:rPr>
              <a:t>Matplotlib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 the figure, axes, labels, annotations and export for reproducible publication.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827"/>
                </a:solidFill>
                <a:latin typeface="Arial"/>
              </a:rPr>
              <a:t>Seaborn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Create statistical graphics with semantic mappings and consistent themes.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827"/>
                </a:solidFill>
                <a:latin typeface="Arial"/>
              </a:rPr>
              <a:t>Comparison and trend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bars for category magnitude and lines for ordered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827"/>
                </a:solidFill>
                <a:latin typeface="Arial"/>
              </a:rPr>
              <a:t>Distribution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histograms and box plots to reveal shape, spread and candidate outliers.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827"/>
                </a:solidFill>
                <a:latin typeface="Arial"/>
              </a:rPr>
              <a:t>Relationship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scatter, regression, pair plots and heatmaps without implying causation.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slow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Choose charts by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Trend: Line across ordered time.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Comparison: Bar across categories.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DECISION / CONTROL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Distribution: Histogram or box plot.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Relationship: Scatter plot.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slow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pandas and Matplotlib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4F46E5"/>
                </a:solidFill>
                <a:latin typeface="Arial"/>
              </a:rPr>
              <a:t>DataFrame.plot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F46E5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Fast first 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F766E"/>
                </a:solidFill>
                <a:latin typeface="Arial"/>
              </a:rPr>
              <a:t>Figure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Full visual canvas.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EA5E9"/>
                </a:solidFill>
                <a:latin typeface="Arial"/>
              </a:rPr>
              <a:t>Axes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EA5E9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Coordinate system.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slow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Line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Ordered x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time or sequence.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Intervals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Represent spacing truthfully.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Series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Limit competing lines.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Annotations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Call out turning points.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slow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Bar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Length: Encodes magnitude.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Zero: Required baseline.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DECISION / CONTROL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Sort: Use when rank matters.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Horizontal: Helps long labels.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slow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Composition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4F46E5"/>
                </a:solidFill>
                <a:latin typeface="Arial"/>
              </a:rPr>
              <a:t>Stacked 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F46E5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Total plus contribution.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F766E"/>
                </a:solidFill>
                <a:latin typeface="Arial"/>
              </a:rPr>
              <a:t>Area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Accumulated trend.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EA5E9"/>
                </a:solidFill>
                <a:latin typeface="Arial"/>
              </a:rPr>
              <a:t>Pie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EA5E9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Only a few part-to-whole slices.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slow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Distribution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Histogram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Shape depends on bins.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Box plot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Median and IQR.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Density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Smoothed distribution.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Outlier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Candidate for investigation.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slow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Relationship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Scatter: Two numerical variables.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Regression: Estimated linear trend.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DECISION / CONTROL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Pair plot: Screen several variables.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Causality: Pattern is not proof.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slow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Heatmap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4F46E5"/>
                </a:solidFill>
                <a:latin typeface="Arial"/>
              </a:rPr>
              <a:t>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F46E5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Colour encodes cells.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F766E"/>
                </a:solidFill>
                <a:latin typeface="Arial"/>
              </a:rPr>
              <a:t>Correlation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Use -1 to +1 centred scale.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EA5E9"/>
                </a:solidFill>
                <a:latin typeface="Arial"/>
              </a:rPr>
              <a:t>Labels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EA5E9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Avoid false precision.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slow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Subplots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Small multiples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panel per segment.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Shared scale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Enables comparison.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Layout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Preserve readable labels.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Legend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Reduce visual search.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slow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Visual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Axes: Truthful units and limits.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Colour: Accessible and restrained.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DECISION / CONTROL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Context: Period, source, denominator.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Uncertainty: Show material limitations.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slow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Pre-attentive attributes guide 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Position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Supports precise comparison along a common scale.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Length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Makes magnitude easy to compare.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Colour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Highlights category or exception when used sparingly.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Size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Attracts attention but is less precise than length.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slow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Chart selection decision tree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Trend: Line for values across ordered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Compare: Bar or dot plot for category magnitude.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Distribution: Histogram, density or box plot.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Relationship: Scatter plot for two numeric variables.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slow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Visual encoding accuracy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FOUNDATION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Position: Most accurately compared on a common scale.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Length: Strong for bars sharing a baseline.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INTERPRETATION / CONTROL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Angle and area: Harder to compare precisely.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Colour intensity: Best for ordered patterns, not exact values.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slow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Zero baselines and honest axes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FOUNDATION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Bars: Start at zero because length encodes magnitude.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Lines: May use a focused range when disclosed and justified.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INTERPRETATION / CONTROL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Intervals: Use truthful spacing and consistent time units.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Breaks: Mark discontinuities instead of hiding them.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slow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Colour accessibility and semantics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Categorical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distinct hues for a small set of groups.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Sequential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ordered light-to-dark for magnitude.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Diverging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Centre two directions on a meaningful midpoint.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Accessible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contrast and avoid colour-only meaning.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slow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Histogram bins change the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FOUNDATION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Too few: Important modes and gaps disappear.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Too many: Random noise appears as structure.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INTERPRETATION / CONTROL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Comparison: Use shared boundaries across groups.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Disclosure: State bin width or count and sample size.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slow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Box plot anatomy and 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Median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Line at the 50th percentile.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Box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Q1 to Q3, the middle 50 percent.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Whiskers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Often extend to 1.5 IQR from the quartiles.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Fliers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Candidates for investigation, not automatic errors.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slow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Scatter plots, overplotting and trend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FOUNDATION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Pair: Each point must represent one matched observation.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Overlap: Use transparency, jitter or aggregation when dense.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INTERPRETATION / CONTROL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Trend: Show a fitted line only with a clear descriptive purpose.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Causality: Association alone cannot identify an intervention effect.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slow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Decision-ready annotation and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Message: State the supported finding in the title.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Evidence: Show units, period, base and comparison.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Annotation: Label the turning point or exception.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Caveat: Disclose uncertainty, exclusions and source.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slow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A5E9"/>
                </a:solidFill>
                <a:latin typeface="Arial"/>
              </a:rPr>
              <a:t>TOPIC 03 · PANDAS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Revenue variance to target (SGD)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28800"/>
          <a:ext cx="740664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85632" y="1828800"/>
            <a:ext cx="2926080" cy="41605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2167128"/>
            <a:ext cx="233172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A5E9"/>
                </a:solidFill>
                <a:latin typeface="Arial"/>
              </a:rPr>
              <a:t>PYTHON → 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670048"/>
            <a:ext cx="2331720" cy="21488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11827"/>
                </a:solidFill>
                <a:latin typeface="Arial"/>
              </a:rPr>
              <a:t>Direction and size of variance focus attention on 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5129784"/>
            <a:ext cx="233172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native PowerPoint chart derived from pandas output.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slow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A5E9"/>
                </a:solidFill>
                <a:latin typeface="Arial"/>
              </a:rPr>
              <a:t>TOPIC 03 · PANDAS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Correlation with conversions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28800"/>
          <a:ext cx="740664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85632" y="1828800"/>
            <a:ext cx="2926080" cy="41605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2167128"/>
            <a:ext cx="233172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A5E9"/>
                </a:solidFill>
                <a:latin typeface="Arial"/>
              </a:rPr>
              <a:t>PYTHON → 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670048"/>
            <a:ext cx="2331720" cy="21488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11827"/>
                </a:solidFill>
                <a:latin typeface="Arial"/>
              </a:rPr>
              <a:t>Association is not causal proof.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5129784"/>
            <a:ext cx="233172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native PowerPoint chart derived from pandas output.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slow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LAB 05 · CONCEPT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Visualise Monthly Retail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6720840" cy="40233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57984"/>
            <a:ext cx="612648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11827"/>
                </a:solidFill>
                <a:latin typeface="Arial"/>
              </a:rPr>
              <a:t>Select chart types for time trend, category comparison and target variance, then annotate the decision signal.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675887"/>
            <a:ext cx="6126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F46E5"/>
                </a:solidFill>
                <a:latin typeface="Arial"/>
              </a:rPr>
              <a:t>YOU WILL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069080"/>
            <a:ext cx="6126480" cy="10515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11827"/>
                </a:solidFill>
                <a:latin typeface="Arial"/>
              </a:rPr>
              <a:t>A three-chart management pack: monthly trend, regional comparison and variance waterfall-style bar chart.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5358384"/>
            <a:ext cx="6126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TOOLS  </a:t>
            </a:r>
            <a:r>
              <a:rPr sz="1000" b="0">
                <a:solidFill>
                  <a:srgbClr val="5B6372"/>
                </a:solidFill>
                <a:latin typeface="Arial"/>
              </a:rPr>
              <a:t>Python, pandas plot, Matplotlib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828800"/>
            <a:ext cx="3611880" cy="4023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98280" y="2240280"/>
            <a:ext cx="1005840" cy="10058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240280"/>
            <a:ext cx="1005840" cy="10058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566160"/>
            <a:ext cx="297180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ACCEPTANCE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4041648"/>
            <a:ext cx="2926080" cy="12984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All three charts render, labels and units are complete, bars use a zero baseline and the rationale connects chart choice to the question.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slow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LAB 06 · CONCEPT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Explore Marketing Relationships and Correlation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6720840" cy="40233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57984"/>
            <a:ext cx="612648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11827"/>
                </a:solidFill>
                <a:latin typeface="Arial"/>
              </a:rPr>
              <a:t>Use scatter, regression, pair plots and a correlation heatmap to explore marketing performance without causal overclaim.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675887"/>
            <a:ext cx="6126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F46E5"/>
                </a:solidFill>
                <a:latin typeface="Arial"/>
              </a:rPr>
              <a:t>YOU WILL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069080"/>
            <a:ext cx="6126480" cy="10515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11827"/>
                </a:solidFill>
                <a:latin typeface="Arial"/>
              </a:rPr>
              <a:t>A relationship-analysis pack with scatter/regression plot, pair plot, heatmap and evidence statement.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5358384"/>
            <a:ext cx="6126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TOOLS  </a:t>
            </a:r>
            <a:r>
              <a:rPr sz="1000" b="0">
                <a:solidFill>
                  <a:srgbClr val="5B6372"/>
                </a:solidFill>
                <a:latin typeface="Arial"/>
              </a:rPr>
              <a:t>Python, pandas, Matplotlib, Seaborn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828800"/>
            <a:ext cx="3611880" cy="4023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98280" y="2240280"/>
            <a:ext cx="1005840" cy="10058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240280"/>
            <a:ext cx="1005840" cy="10058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566160"/>
            <a:ext cx="297180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ACCEPTANCE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4041648"/>
            <a:ext cx="2926080" cy="12984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The graphics render, correlation values are reproducible and the interpretation explicitly separates association from causation.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slow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Recap — Data Visualization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Question first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Runnable Python and pandas outputs.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 to the next analytical layer.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slow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148840"/>
            <a:ext cx="118872" cy="1965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88696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4F46E5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9784080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11827"/>
                </a:solidFill>
                <a:latin typeface="Arial"/>
              </a:rPr>
              <a:t>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959352"/>
            <a:ext cx="9692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data types · descriptive statistics · covariance · correlation · time series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slow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Key Concepts — Data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827"/>
                </a:solidFill>
                <a:latin typeface="Arial"/>
              </a:rPr>
              <a:t>Data types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Distinguish categorical and numerical data, including nominal, ordinal, discrete and continuous.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827"/>
                </a:solidFill>
                <a:latin typeface="Arial"/>
              </a:rPr>
              <a:t>Centre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mean, median and mode according to distribution and decision context.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827"/>
                </a:solidFill>
                <a:latin typeface="Arial"/>
              </a:rPr>
              <a:t>Spread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range, variance, standard deviation and quartiles to quantify variability.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827"/>
                </a:solidFill>
                <a:latin typeface="Arial"/>
              </a:rPr>
              <a:t>Covariance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Measure whether variables move together, while recognising scale dependence.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827"/>
                </a:solidFill>
                <a:latin typeface="Arial"/>
              </a:rPr>
              <a:t>Correlation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Standardise linear association from -1 to +1; never treat association as causation.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827"/>
                </a:solidFill>
                <a:latin typeface="Arial"/>
              </a:rPr>
              <a:t>Time series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Parse datetime, index by time, resample, roll and compare periods without leakage.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slow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Types of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Nominal: Unordered labels.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Ordinal: Ordered categories.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DECISION / CONTROL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Discrete: Countable numbers.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Continuous: Measured interval values.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slow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Centre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4F46E5"/>
                </a:solidFill>
                <a:latin typeface="Arial"/>
              </a:rPr>
              <a:t>Mean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F46E5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Sensitive to extremes.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F766E"/>
                </a:solidFill>
                <a:latin typeface="Arial"/>
              </a:rPr>
              <a:t>Median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Robust midpoint.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EA5E9"/>
                </a:solidFill>
                <a:latin typeface="Arial"/>
              </a:rPr>
              <a:t>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EA5E9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Most frequent value.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slow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Spread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Range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Maximum minus minimum.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Variance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Average squared distance.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Standard deviation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Spread in original unit.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IQR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Middle 50 percent.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slow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Descriptive statistics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describe: Standard summary.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agg: Selected named measures.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DECISION / CONTROL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Group: Compare consistent metrics.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Missing: State denominator.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slow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Categorical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4F46E5"/>
                </a:solidFill>
                <a:latin typeface="Arial"/>
              </a:rPr>
              <a:t>value_counts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F46E5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Frequency by category.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F766E"/>
                </a:solidFill>
                <a:latin typeface="Arial"/>
              </a:rPr>
              <a:t>normalize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Convert to proportion.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EA5E9"/>
                </a:solidFill>
                <a:latin typeface="Arial"/>
              </a:rPr>
              <a:t>crosstab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EA5E9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Joint category counts.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slow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Covariance and correlation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Covariance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Scale-dependent co-movement.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Pearson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Linear association.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Spearman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Rank association.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Caution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Neither proves causality.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slow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Datetime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to_datetime: Parse strings.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Format: Specify known patterns.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DECISION / CONTROL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Timezone: Localise deliberately.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Invalid: Coerce and audit.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slow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DatetimeIndex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4F46E5"/>
                </a:solidFill>
                <a:latin typeface="Arial"/>
              </a:rPr>
              <a:t>Slice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F46E5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Select dates and periods.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F766E"/>
                </a:solidFill>
                <a:latin typeface="Arial"/>
              </a:rPr>
              <a:t>Properties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Year, month, weekday, hour.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EA5E9"/>
                </a:solidFill>
                <a:latin typeface="Arial"/>
              </a:rPr>
              <a:t>Order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EA5E9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Sort and enforce uniqueness.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slow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Resample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Downsample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Hourly to daily.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Upsample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finer intervals.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Rule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D, W, M and more.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Measure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Mean, max, sum or last.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slow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Rolling and peaks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Trailing: Current and past only.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Window: Count or time offset.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DECISION / CONTROL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Threshold: Limit or percentile.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Evidence: Retain peak records.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slow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Population, sample, parameter and statistic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Population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Full group about which a claim is intended.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Sample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Observed subset used for calculation.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Parameter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Unknown population quantity such as μ or σ.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Statistic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Sample estimate such as x̄ or 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slow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Measurement scales determine valid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Nominal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Labels with no inherent order.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Ordinal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Ordered labels with unknown spacing.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Interval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Equal differences without a true zero.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Ratio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Equal differences and a meaningful zero.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slow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Mean, median and mode under an outlier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3794760" cy="4160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76272"/>
            <a:ext cx="3182112" cy="3108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FORMULA / WORKED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743200"/>
            <a:ext cx="3310128" cy="15361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111827"/>
                </a:solidFill>
                <a:latin typeface="Arial"/>
              </a:rPr>
              <a:t>x̄ = Σxᵢ /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09160"/>
            <a:ext cx="3154680" cy="6858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Interpret the quantity, unit, population and assumptions before using the 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847088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38928" y="2039112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38928" y="2039112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42432" y="1929384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Data: </a:t>
            </a:r>
            <a:r>
              <a:rPr sz="1300" b="0">
                <a:solidFill>
                  <a:srgbClr val="5B6372"/>
                </a:solidFill>
                <a:latin typeface="Arial"/>
              </a:rPr>
              <a:t>12, 13, 13, 14, 48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2834640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38928" y="3026664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8" y="3026664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42432" y="2916936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Mean: </a:t>
            </a:r>
            <a:r>
              <a:rPr sz="1300" b="0">
                <a:solidFill>
                  <a:srgbClr val="5B6372"/>
                </a:solidFill>
                <a:latin typeface="Arial"/>
              </a:rPr>
              <a:t>20; pulled upward by 48.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3822192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38928" y="4014216"/>
            <a:ext cx="402336" cy="402336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8928" y="4014216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42432" y="3904488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Median: </a:t>
            </a:r>
            <a:r>
              <a:rPr sz="1300" b="0">
                <a:solidFill>
                  <a:srgbClr val="5B6372"/>
                </a:solidFill>
                <a:latin typeface="Arial"/>
              </a:rPr>
              <a:t>13; robust midpoint.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4809744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38928" y="5001768"/>
            <a:ext cx="402336" cy="40233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001768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42432" y="4892040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Mode: </a:t>
            </a:r>
            <a:r>
              <a:rPr sz="1300" b="0">
                <a:solidFill>
                  <a:srgbClr val="5B6372"/>
                </a:solidFill>
                <a:latin typeface="Arial"/>
              </a:rPr>
              <a:t>13; most frequent observed value.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slow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Quartiles, IQR and the five-number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3794760" cy="4160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76272"/>
            <a:ext cx="3182112" cy="3108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FORMULA / WORKED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743200"/>
            <a:ext cx="3310128" cy="15361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111827"/>
                </a:solidFill>
                <a:latin typeface="Arial"/>
              </a:rPr>
              <a:t>IQR = Q3 − 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09160"/>
            <a:ext cx="3154680" cy="6858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Interpret the quantity, unit, population and assumptions before using the 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847088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38928" y="2039112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38928" y="2039112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42432" y="1929384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Minimum: </a:t>
            </a:r>
            <a:r>
              <a:rPr sz="1300" b="0">
                <a:solidFill>
                  <a:srgbClr val="5B6372"/>
                </a:solidFill>
                <a:latin typeface="Arial"/>
              </a:rPr>
              <a:t>Smallest observed value.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2834640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38928" y="3026664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8" y="3026664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42432" y="2916936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Q1: </a:t>
            </a:r>
            <a:r>
              <a:rPr sz="1300" b="0">
                <a:solidFill>
                  <a:srgbClr val="5B6372"/>
                </a:solidFill>
                <a:latin typeface="Arial"/>
              </a:rPr>
              <a:t>25th percentile.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3822192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38928" y="4014216"/>
            <a:ext cx="402336" cy="402336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8928" y="4014216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42432" y="3904488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Median: </a:t>
            </a:r>
            <a:r>
              <a:rPr sz="1300" b="0">
                <a:solidFill>
                  <a:srgbClr val="5B6372"/>
                </a:solidFill>
                <a:latin typeface="Arial"/>
              </a:rPr>
              <a:t>50th percentile.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4809744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38928" y="5001768"/>
            <a:ext cx="402336" cy="40233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001768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42432" y="4892040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Q3 / maximum: </a:t>
            </a:r>
            <a:r>
              <a:rPr sz="1300" b="0">
                <a:solidFill>
                  <a:srgbClr val="5B6372"/>
                </a:solidFill>
                <a:latin typeface="Arial"/>
              </a:rPr>
              <a:t>75th percentile and largest value.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slow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Variance and standard deviation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3794760" cy="4160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76272"/>
            <a:ext cx="3182112" cy="3108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FORMULA / WORKED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743200"/>
            <a:ext cx="3310128" cy="15361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111827"/>
                </a:solidFill>
                <a:latin typeface="Arial"/>
              </a:rPr>
              <a:t>s² = Σ(xᵢ − x̄)² / (n − 1)
s = √s²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09160"/>
            <a:ext cx="3154680" cy="6858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Interpret the quantity, unit, population and assumptions before using the 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847088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38928" y="2039112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38928" y="2039112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42432" y="1929384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Deviation: </a:t>
            </a:r>
            <a:r>
              <a:rPr sz="1300" b="0">
                <a:solidFill>
                  <a:srgbClr val="5B6372"/>
                </a:solidFill>
                <a:latin typeface="Arial"/>
              </a:rPr>
              <a:t>Distance of each value from the mean.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2834640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38928" y="3026664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8" y="3026664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42432" y="2916936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Square: </a:t>
            </a:r>
            <a:r>
              <a:rPr sz="1300" b="0">
                <a:solidFill>
                  <a:srgbClr val="5B6372"/>
                </a:solidFill>
                <a:latin typeface="Arial"/>
              </a:rPr>
              <a:t>Prevents positive and negative distances cancelling.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3822192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38928" y="4014216"/>
            <a:ext cx="402336" cy="402336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8928" y="4014216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42432" y="3904488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Variance: </a:t>
            </a:r>
            <a:r>
              <a:rPr sz="1300" b="0">
                <a:solidFill>
                  <a:srgbClr val="5B6372"/>
                </a:solidFill>
                <a:latin typeface="Arial"/>
              </a:rPr>
              <a:t>Average squared deviation using n−1 for a sample.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4809744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38928" y="5001768"/>
            <a:ext cx="402336" cy="40233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001768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42432" y="4892040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SD: </a:t>
            </a:r>
            <a:r>
              <a:rPr sz="1300" b="0">
                <a:solidFill>
                  <a:srgbClr val="5B6372"/>
                </a:solidFill>
                <a:latin typeface="Arial"/>
              </a:rPr>
              <a:t>Square root returns to the original unit.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slow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Coefficient of variation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3794760" cy="4160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76272"/>
            <a:ext cx="3182112" cy="3108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FORMULA / WORKED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743200"/>
            <a:ext cx="3310128" cy="15361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111827"/>
                </a:solidFill>
                <a:latin typeface="Arial"/>
              </a:rPr>
              <a:t>CV = s / x̄ × 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09160"/>
            <a:ext cx="3154680" cy="6858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Interpret the quantity, unit, population and assumptions before using the 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847088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38928" y="2039112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38928" y="2039112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42432" y="1929384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Purpose: </a:t>
            </a:r>
            <a:r>
              <a:rPr sz="1300" b="0">
                <a:solidFill>
                  <a:srgbClr val="5B6372"/>
                </a:solidFill>
                <a:latin typeface="Arial"/>
              </a:rPr>
              <a:t>Compares relative spread across different scales.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2834640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38928" y="3026664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8" y="3026664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42432" y="2916936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Numerator: </a:t>
            </a:r>
            <a:r>
              <a:rPr sz="1300" b="0">
                <a:solidFill>
                  <a:srgbClr val="5B6372"/>
                </a:solidFill>
                <a:latin typeface="Arial"/>
              </a:rPr>
              <a:t>Standard deviation.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3822192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38928" y="4014216"/>
            <a:ext cx="402336" cy="402336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8928" y="4014216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42432" y="3904488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Denominator: </a:t>
            </a:r>
            <a:r>
              <a:rPr sz="1300" b="0">
                <a:solidFill>
                  <a:srgbClr val="5B6372"/>
                </a:solidFill>
                <a:latin typeface="Arial"/>
              </a:rPr>
              <a:t>Mean of the same measure.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4809744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38928" y="5001768"/>
            <a:ext cx="402336" cy="40233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001768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42432" y="4892040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Caution: </a:t>
            </a:r>
            <a:r>
              <a:rPr sz="1300" b="0">
                <a:solidFill>
                  <a:srgbClr val="5B6372"/>
                </a:solidFill>
                <a:latin typeface="Arial"/>
              </a:rPr>
              <a:t>Unstable when the mean is near zero or can be negative.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slow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Z-scores and unusual observations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3794760" cy="4160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76272"/>
            <a:ext cx="3182112" cy="3108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FORMULA / WORKED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743200"/>
            <a:ext cx="3310128" cy="15361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111827"/>
                </a:solidFill>
                <a:latin typeface="Arial"/>
              </a:rPr>
              <a:t>z = (x − x̄) /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09160"/>
            <a:ext cx="3154680" cy="6858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Interpret the quantity, unit, population and assumptions before using the 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847088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38928" y="2039112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38928" y="2039112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42432" y="1929384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Centre: </a:t>
            </a:r>
            <a:r>
              <a:rPr sz="1300" b="0">
                <a:solidFill>
                  <a:srgbClr val="5B6372"/>
                </a:solidFill>
                <a:latin typeface="Arial"/>
              </a:rPr>
              <a:t>Subtract the reference mean.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2834640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38928" y="3026664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8" y="3026664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42432" y="2916936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Scale: </a:t>
            </a:r>
            <a:r>
              <a:rPr sz="1300" b="0">
                <a:solidFill>
                  <a:srgbClr val="5B6372"/>
                </a:solidFill>
                <a:latin typeface="Arial"/>
              </a:rPr>
              <a:t>Divide by the reference standard deviation.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3822192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38928" y="4014216"/>
            <a:ext cx="402336" cy="402336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8928" y="4014216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42432" y="3904488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Meaning: </a:t>
            </a:r>
            <a:r>
              <a:rPr sz="1300" b="0">
                <a:solidFill>
                  <a:srgbClr val="5B6372"/>
                </a:solidFill>
                <a:latin typeface="Arial"/>
              </a:rPr>
              <a:t>Number of standard deviations from the mean.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4809744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38928" y="5001768"/>
            <a:ext cx="402336" cy="40233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001768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42432" y="4892040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Caution: </a:t>
            </a:r>
            <a:r>
              <a:rPr sz="1300" b="0">
                <a:solidFill>
                  <a:srgbClr val="5B6372"/>
                </a:solidFill>
                <a:latin typeface="Arial"/>
              </a:rPr>
              <a:t>A large z-score is unusual, not automatically wrong.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slow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Covariance and correlation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3794760" cy="4160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76272"/>
            <a:ext cx="3182112" cy="3108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FORMULA / WORKED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743200"/>
            <a:ext cx="3310128" cy="15361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111827"/>
                </a:solidFill>
                <a:latin typeface="Arial"/>
              </a:rPr>
              <a:t>r = cov(X,Y) / (sX sY)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09160"/>
            <a:ext cx="3154680" cy="6858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Interpret the quantity, unit, population and assumptions before using the 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847088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38928" y="2039112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38928" y="2039112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42432" y="1929384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Covariance: </a:t>
            </a:r>
            <a:r>
              <a:rPr sz="1300" b="0">
                <a:solidFill>
                  <a:srgbClr val="5B6372"/>
                </a:solidFill>
                <a:latin typeface="Arial"/>
              </a:rPr>
              <a:t>Direction of joint movement in product units.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2834640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38928" y="3026664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8" y="3026664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42432" y="2916936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Correlation: </a:t>
            </a:r>
            <a:r>
              <a:rPr sz="1300" b="0">
                <a:solidFill>
                  <a:srgbClr val="5B6372"/>
                </a:solidFill>
                <a:latin typeface="Arial"/>
              </a:rPr>
              <a:t>Standardised association from −1 to +1.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3822192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38928" y="4014216"/>
            <a:ext cx="402336" cy="402336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8928" y="4014216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42432" y="3904488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Sign: </a:t>
            </a:r>
            <a:r>
              <a:rPr sz="1300" b="0">
                <a:solidFill>
                  <a:srgbClr val="5B6372"/>
                </a:solidFill>
                <a:latin typeface="Arial"/>
              </a:rPr>
              <a:t>Shows direction, not importance or causality.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4809744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38928" y="5001768"/>
            <a:ext cx="402336" cy="40233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001768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42432" y="4892040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Magnitude: </a:t>
            </a:r>
            <a:r>
              <a:rPr sz="1300" b="0">
                <a:solidFill>
                  <a:srgbClr val="5B6372"/>
                </a:solidFill>
                <a:latin typeface="Arial"/>
              </a:rPr>
              <a:t>Shows linear strength and is sensitive to outliers.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slow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Pearson or Spearman correlation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FOUNDATION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Pearson: Linear association between numerical variables.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Spearman: Monotonic association based on ranks.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INTERPRETATION / CONTROL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Inspect: Plot form, outliers, ties and subgroup patterns.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Report: Method, coefficient, sample size and limitation.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slow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Time-series 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Level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Typical magnitude around which a series varies.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Trend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Persistent long-run movement.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Seasonality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Pattern repeating at a known calendar frequency.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Irregular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Residual shocks, noise and anomalies.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slow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Resampling, rolling windows and leakage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Parse: Create valid, timezone-aware timestamps.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Order: Sort and resolve duplicate intervals.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Resample: Aggregate to the decision frequency.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Roll: Use only information available at prediction 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slow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A5E9"/>
                </a:solidFill>
                <a:latin typeface="Arial"/>
              </a:rPr>
              <a:t>TOPIC 04 · PANDAS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Mean resolution time by channel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28800"/>
          <a:ext cx="740664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85632" y="1828800"/>
            <a:ext cx="2926080" cy="41605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2167128"/>
            <a:ext cx="233172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A5E9"/>
                </a:solidFill>
                <a:latin typeface="Arial"/>
              </a:rPr>
              <a:t>PYTHON → 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670048"/>
            <a:ext cx="2331720" cy="21488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11827"/>
                </a:solidFill>
                <a:latin typeface="Arial"/>
              </a:rPr>
              <a:t>Compare mean with median when the distribution is skewed.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5129784"/>
            <a:ext cx="233172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native PowerPoint chart derived from pandas output.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slow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A5E9"/>
                </a:solidFill>
                <a:latin typeface="Arial"/>
              </a:rPr>
              <a:t>TOPIC 04 · PANDAS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Recent peak energy demand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28800"/>
          <a:ext cx="740664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85632" y="1828800"/>
            <a:ext cx="2926080" cy="41605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2167128"/>
            <a:ext cx="233172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A5E9"/>
                </a:solidFill>
                <a:latin typeface="Arial"/>
              </a:rPr>
              <a:t>PYTHON → 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670048"/>
            <a:ext cx="2331720" cy="21488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11827"/>
                </a:solidFill>
                <a:latin typeface="Arial"/>
              </a:rPr>
              <a:t>Trailing monitoring must not use future values.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5129784"/>
            <a:ext cx="233172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native PowerPoint chart derived from pandas output.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slow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LAB 07 · CONCEPT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Analyse Service Quality Distributions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6720840" cy="40233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57984"/>
            <a:ext cx="612648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11827"/>
                </a:solidFill>
                <a:latin typeface="Arial"/>
              </a:rPr>
              <a:t>Compare centre and spread across service channels and identify candidate outliers without deleting them automatically.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675887"/>
            <a:ext cx="6126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F46E5"/>
                </a:solidFill>
                <a:latin typeface="Arial"/>
              </a:rPr>
              <a:t>YOU WILL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069080"/>
            <a:ext cx="6126480" cy="10515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11827"/>
                </a:solidFill>
                <a:latin typeface="Arial"/>
              </a:rPr>
              <a:t>Descriptive-statistics table, histogram, box plot and evidence-based channel comparison.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5358384"/>
            <a:ext cx="6126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TOOLS  </a:t>
            </a:r>
            <a:r>
              <a:rPr sz="1000" b="0">
                <a:solidFill>
                  <a:srgbClr val="5B6372"/>
                </a:solidFill>
                <a:latin typeface="Arial"/>
              </a:rPr>
              <a:t>Python, pandas, Matplotlib, Seaborn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828800"/>
            <a:ext cx="3611880" cy="4023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98280" y="2240280"/>
            <a:ext cx="1005840" cy="10058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240280"/>
            <a:ext cx="1005840" cy="10058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566160"/>
            <a:ext cx="297180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ACCEPTANCE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4041648"/>
            <a:ext cx="2926080" cy="12984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Statistics reconcile to the source, candidate outliers remain traceable and the interpretation uses median when the distribution is skewed.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slow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LAB 08 · CONCEPT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Resample and Monitor Energy Demand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6720840" cy="40233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57984"/>
            <a:ext cx="612648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11827"/>
                </a:solidFill>
                <a:latin typeface="Arial"/>
              </a:rPr>
              <a:t>Parse an hourly time series, resample it to daily and weekly frequency, calculate rolling demand and detect peaks without future leakage.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675887"/>
            <a:ext cx="6126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F46E5"/>
                </a:solidFill>
                <a:latin typeface="Arial"/>
              </a:rPr>
              <a:t>YOU WILL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069080"/>
            <a:ext cx="6126480" cy="10515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11827"/>
                </a:solidFill>
                <a:latin typeface="Arial"/>
              </a:rPr>
              <a:t>Daily and weekly energy summaries, rolling-demand chart and a peak-demand exception 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5358384"/>
            <a:ext cx="6126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TOOLS  </a:t>
            </a:r>
            <a:r>
              <a:rPr sz="1000" b="0">
                <a:solidFill>
                  <a:srgbClr val="5B6372"/>
                </a:solidFill>
                <a:latin typeface="Arial"/>
              </a:rPr>
              <a:t>Python, pandas DatetimeIndex, resample, rolling, Matplotlib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828800"/>
            <a:ext cx="3611880" cy="4023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98280" y="2240280"/>
            <a:ext cx="1005840" cy="10058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240280"/>
            <a:ext cx="1005840" cy="10058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566160"/>
            <a:ext cx="297180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ACCEPTANCE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4041648"/>
            <a:ext cx="2926080" cy="12984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The index is complete and sorted, resampled totals are explainable, rolling calculations use no future values and peak days are retained as evidence.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slow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Recap — Data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Data types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Runnable Python and pandas outputs.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 to the next analytical layer.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slow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148840"/>
            <a:ext cx="118872" cy="1965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88696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4F46E5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9784080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11827"/>
                </a:solidFill>
                <a:latin typeface="Arial"/>
              </a:rPr>
              <a:t>Advanced Data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959352"/>
            <a:ext cx="9692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pipe · apply · custom functions · linear regression · credibility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slow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Key Concepts — Advanced Data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827"/>
                </a:solidFill>
                <a:latin typeface="Arial"/>
              </a:rPr>
              <a:t>Method chains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Compose readable transformations with assign and pipe instead of hidden intermediate edits.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827"/>
                </a:solidFill>
                <a:latin typeface="Arial"/>
              </a:rPr>
              <a:t>Apply and vectorisation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Prefer vectorised operations; use apply for justified custom row or column logic.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827"/>
                </a:solidFill>
                <a:latin typeface="Arial"/>
              </a:rPr>
              <a:t>Regression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Estimate a linear relationship between an outcome and one or more predictors.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827"/>
                </a:solidFill>
                <a:latin typeface="Arial"/>
              </a:rPr>
              <a:t>Residuals and MSE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Inspect unexplained errors and quantify average squared prediction loss.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827"/>
                </a:solidFill>
                <a:latin typeface="Arial"/>
              </a:rPr>
              <a:t>Interpretation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Separate coefficient direction, model fit, uncertainty and practical meaning.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827"/>
                </a:solidFill>
                <a:latin typeface="Arial"/>
              </a:rPr>
              <a:t>Credibility review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Check data quality, assumptions, leakage, limitations and reproducibility before release.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slow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Method chains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Readable: Follow analytical sequence.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Reproducible: No hidden manual state.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DECISION / CONTROL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Testable: One function per responsibility.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Reviewable: Changes remain traceable.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slow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pipe and assign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4F46E5"/>
                </a:solidFill>
                <a:latin typeface="Arial"/>
              </a:rPr>
              <a:t>pipe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F46E5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Pass data into a function.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F766E"/>
                </a:solidFill>
                <a:latin typeface="Arial"/>
              </a:rPr>
              <a:t>assign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Create features in a chain.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EA5E9"/>
                </a:solidFill>
                <a:latin typeface="Arial"/>
              </a:rPr>
              <a:t>Return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EA5E9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Each function returns the next table.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slow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Vectorisation and apply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Vectorise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Fast native array operations.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apply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Flexible custom logic.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Cost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Row-wise apply can be slow.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Choice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Prefer clarity and scale.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slow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Custom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Input: Expected schema.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Transform: No hidden mutation.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DECISION / CONTROL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Output: Defined grain and fields.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Errors: Fail loudly and clearly.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slow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Linear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4F46E5"/>
                </a:solidFill>
                <a:latin typeface="Arial"/>
              </a:rPr>
              <a:t>Outcome 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F46E5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Value to explain or predict.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F766E"/>
                </a:solidFill>
                <a:latin typeface="Arial"/>
              </a:rPr>
              <a:t>Predictors 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Inputs available at decision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EA5E9"/>
                </a:solidFill>
                <a:latin typeface="Arial"/>
              </a:rPr>
              <a:t>Coefficient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EA5E9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Conditional estimated change.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slow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Train and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Train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Fit model parameters.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Test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Estimate unseen performance.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Random state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Reproducible split.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Leakage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 future or test information.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slow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Residuals and MSE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Residual: Actual minus predicted.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Pattern: Signals model weakness.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DECISION / CONTROL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MSE: Average squared loss.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RMSE: Returns to outcome units.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slow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R-squared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4F46E5"/>
                </a:solidFill>
                <a:latin typeface="Arial"/>
              </a:rPr>
              <a:t>Meaning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F46E5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Variation explained.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F766E"/>
                </a:solidFill>
                <a:latin typeface="Arial"/>
              </a:rPr>
              <a:t>Test 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Generalisation evidence.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388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EA5E9"/>
                </a:solidFill>
                <a:latin typeface="Arial"/>
              </a:rPr>
              <a:t>Negative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EA5E9"/>
                </a:solidFill>
                <a:latin typeface="Arial"/>
              </a:rPr>
              <a:t>●</a:t>
            </a:r>
            <a:r>
              <a:rPr sz="1300" b="0">
                <a:solidFill>
                  <a:srgbClr val="111827"/>
                </a:solidFill>
                <a:latin typeface="Arial"/>
              </a:rPr>
              <a:t>  Worse than mean baseline.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slow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Strengths and weaknesses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Transparent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Interpretable baseline.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Fast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Efficient to fit.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Linearity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May miss curves.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Outliers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Can influence fit.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slow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Credibility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Data: Relevant and representative.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Method: Assumptions fit design.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DECISION / CONTROL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Evidence: Diagnostics and held-out metrics.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Claim: Stay within what data supports.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slow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Four levels of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Descriptive: What happened?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Diagnostic: What factors are associated with it?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Predictive: What may happen under similar conditions?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Prescriptive: Which action best meets an objective and constraints?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slow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Correlation, regression and causality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FOUNDATION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Correlation: Symmetric description of association.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Regression: Conditional outcome estimate given predictors.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634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INTERPRETATION / CONTROL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Prediction: Performance on unseen cases under similar conditions.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187952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827"/>
                </a:solidFill>
                <a:latin typeface="Arial"/>
              </a:rPr>
              <a:t>Causal effect: Change attributable to an intervention under a design.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slow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Simple linear regression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3794760" cy="4160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76272"/>
            <a:ext cx="3182112" cy="3108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FORMULA / WORKED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743200"/>
            <a:ext cx="3310128" cy="15361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111827"/>
                </a:solidFill>
                <a:latin typeface="Arial"/>
              </a:rPr>
              <a:t>ŷ = β₀ + β₁x
e = y − 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09160"/>
            <a:ext cx="3154680" cy="6858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Interpret the quantity, unit, population and assumptions before using the 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847088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38928" y="2039112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38928" y="2039112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42432" y="1929384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ŷ: </a:t>
            </a:r>
            <a:r>
              <a:rPr sz="1300" b="0">
                <a:solidFill>
                  <a:srgbClr val="5B6372"/>
                </a:solidFill>
                <a:latin typeface="Arial"/>
              </a:rPr>
              <a:t>Predicted outcome for a given 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2834640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38928" y="3026664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8" y="3026664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42432" y="2916936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β₀: </a:t>
            </a:r>
            <a:r>
              <a:rPr sz="1300" b="0">
                <a:solidFill>
                  <a:srgbClr val="5B6372"/>
                </a:solidFill>
                <a:latin typeface="Arial"/>
              </a:rPr>
              <a:t>Predicted outcome when x equals zero.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3822192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38928" y="4014216"/>
            <a:ext cx="402336" cy="402336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8928" y="4014216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42432" y="3904488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β₁: </a:t>
            </a:r>
            <a:r>
              <a:rPr sz="1300" b="0">
                <a:solidFill>
                  <a:srgbClr val="5B6372"/>
                </a:solidFill>
                <a:latin typeface="Arial"/>
              </a:rPr>
              <a:t>Estimated change in outcome for one-unit increase in x.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4809744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38928" y="5001768"/>
            <a:ext cx="402336" cy="40233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001768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42432" y="4892040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e: </a:t>
            </a:r>
            <a:r>
              <a:rPr sz="1300" b="0">
                <a:solidFill>
                  <a:srgbClr val="5B6372"/>
                </a:solidFill>
                <a:latin typeface="Arial"/>
              </a:rPr>
              <a:t>Observed minus predicted outcome.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slow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Interpreting coefficients responsibly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Direction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Positive or negative conditional association.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Magnitude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Outcome-unit change per predictor unit.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Reference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Baseline or omitted category for categorical inputs.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Applies to the fitted population and observed range.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slow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Train, test and overfitting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Split: Reserve unseen observations before fitting.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Train: Estimate parameters and tune choices.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Test: Evaluate once on held-out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Compare: Check generalisation against a simple baseline.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slow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Residual diagnostics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Residual versus fitted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Reveals curvature or changing spread.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Distribution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Shows skew and extreme errors.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Time order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Reveals dependence or drift.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Segments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Checks whether errors concentrate in groups.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slow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MSE, RMSE, MAE and R-squared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3794760" cy="4160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76272"/>
            <a:ext cx="3182112" cy="3108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FORMULA / WORKED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743200"/>
            <a:ext cx="3310128" cy="15361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111827"/>
                </a:solidFill>
                <a:latin typeface="Arial"/>
              </a:rPr>
              <a:t>MSE = Σe²/n
RMSE = √MSE
MAE = Σ|e|/n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09160"/>
            <a:ext cx="3154680" cy="6858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Interpret the quantity, unit, population and assumptions before using the 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847088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38928" y="2039112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38928" y="2039112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42432" y="1929384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MSE: </a:t>
            </a:r>
            <a:r>
              <a:rPr sz="1300" b="0">
                <a:solidFill>
                  <a:srgbClr val="5B6372"/>
                </a:solidFill>
                <a:latin typeface="Arial"/>
              </a:rPr>
              <a:t>Average squared error; strongly penalises large misses.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2834640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38928" y="3026664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8" y="3026664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42432" y="2916936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RMSE: </a:t>
            </a:r>
            <a:r>
              <a:rPr sz="1300" b="0">
                <a:solidFill>
                  <a:srgbClr val="5B6372"/>
                </a:solidFill>
                <a:latin typeface="Arial"/>
              </a:rPr>
              <a:t>Square root of MSE in outcome units.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3822192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38928" y="4014216"/>
            <a:ext cx="402336" cy="402336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8928" y="4014216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42432" y="3904488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MAE: </a:t>
            </a:r>
            <a:r>
              <a:rPr sz="1300" b="0">
                <a:solidFill>
                  <a:srgbClr val="5B6372"/>
                </a:solidFill>
                <a:latin typeface="Arial"/>
              </a:rPr>
              <a:t>Average absolute error; more robust to large misses.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4809744"/>
            <a:ext cx="6537960" cy="8046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38928" y="5001768"/>
            <a:ext cx="402336" cy="40233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001768"/>
            <a:ext cx="402336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42432" y="4892040"/>
            <a:ext cx="5376672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R²: </a:t>
            </a:r>
            <a:r>
              <a:rPr sz="1300" b="0">
                <a:solidFill>
                  <a:srgbClr val="5B6372"/>
                </a:solidFill>
                <a:latin typeface="Arial"/>
              </a:rPr>
              <a:t>Variation explained relative to a mean baseline.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slow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05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Model credibility and communication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Data: Representative, valid and decision-time available.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Method: Assumptions match design and grain.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Evidence: Held-out metrics, diagnostics and sensitivity checks.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Claim: Action, guardrail and limitation stay within support.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slow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A5E9"/>
                </a:solidFill>
                <a:latin typeface="Arial"/>
              </a:rPr>
              <a:t>TOPIC 05 · PANDAS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Late-delivery rate by warehouse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28800"/>
          <a:ext cx="740664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85632" y="1828800"/>
            <a:ext cx="2926080" cy="41605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2167128"/>
            <a:ext cx="233172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A5E9"/>
                </a:solidFill>
                <a:latin typeface="Arial"/>
              </a:rPr>
              <a:t>PYTHON → 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670048"/>
            <a:ext cx="2331720" cy="21488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11827"/>
                </a:solidFill>
                <a:latin typeface="Arial"/>
              </a:rPr>
              <a:t>A one-command pipeline reproduces the risk result.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5129784"/>
            <a:ext cx="233172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native PowerPoint chart derived from pandas output.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slow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A5E9"/>
                </a:solidFill>
                <a:latin typeface="Arial"/>
              </a:rPr>
              <a:t>TOPIC 05 · PANDAS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Synthetic wellbeing by education level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28800"/>
          <a:ext cx="740664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85632" y="1828800"/>
            <a:ext cx="2926080" cy="41605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2167128"/>
            <a:ext cx="233172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A5E9"/>
                </a:solidFill>
                <a:latin typeface="Arial"/>
              </a:rPr>
              <a:t>PYTHON → 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670048"/>
            <a:ext cx="2331720" cy="21488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11827"/>
                </a:solidFill>
                <a:latin typeface="Arial"/>
              </a:rPr>
              <a:t>Synthetic model outputs are associations, not causal claims.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5129784"/>
            <a:ext cx="233172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native PowerPoint chart derived from pandas output.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spd="slow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LAB 09 · CONCEPT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Build a Reusable pandas Analytics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6720840" cy="40233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57984"/>
            <a:ext cx="612648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11827"/>
                </a:solidFill>
                <a:latin typeface="Arial"/>
              </a:rPr>
              <a:t>Refactor a fulfilment analysis into small testable functions connected with pipe, assign and vectorised transformations.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675887"/>
            <a:ext cx="6126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F46E5"/>
                </a:solidFill>
                <a:latin typeface="Arial"/>
              </a:rPr>
              <a:t>YOU WILL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069080"/>
            <a:ext cx="6126480" cy="10515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11827"/>
                </a:solidFill>
                <a:latin typeface="Arial"/>
              </a:rPr>
              <a:t>A reproducible analytics pipeline, validation log and late-delivery risk chart.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5358384"/>
            <a:ext cx="6126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TOOLS  </a:t>
            </a:r>
            <a:r>
              <a:rPr sz="1000" b="0">
                <a:solidFill>
                  <a:srgbClr val="5B6372"/>
                </a:solidFill>
                <a:latin typeface="Arial"/>
              </a:rPr>
              <a:t>Python, pandas pipe, assign, custom functions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828800"/>
            <a:ext cx="3611880" cy="4023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98280" y="2240280"/>
            <a:ext cx="1005840" cy="10058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240280"/>
            <a:ext cx="1005840" cy="10058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566160"/>
            <a:ext cx="297180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ACCEPTANCE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4041648"/>
            <a:ext cx="2926080" cy="12984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The pipeline can be re-run from raw input, validation fails loudly on broken schema, assertions pass and every output is derived without manual edits.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ransition spd="slow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LAB 10 · CONCEPT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Capstone: Public Health Insight and Regression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6720840" cy="40233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57984"/>
            <a:ext cx="612648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11827"/>
                </a:solidFill>
                <a:latin typeface="Arial"/>
              </a:rPr>
              <a:t>Prepare, visualise and model synthetic student-health indicators, then review the credibility of the evidence for a programme decision.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675887"/>
            <a:ext cx="61264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F46E5"/>
                </a:solidFill>
                <a:latin typeface="Arial"/>
              </a:rPr>
              <a:t>YOU WILL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069080"/>
            <a:ext cx="6126480" cy="10515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11827"/>
                </a:solidFill>
                <a:latin typeface="Arial"/>
              </a:rPr>
              <a:t>A complete capstone pack with clean data, summaries, visual dashboard, linear model, residual review and stakeholder brief.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5358384"/>
            <a:ext cx="61264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Arial"/>
              </a:rPr>
              <a:t>TOOLS  </a:t>
            </a:r>
            <a:r>
              <a:rPr sz="1000" b="0">
                <a:solidFill>
                  <a:srgbClr val="5B6372"/>
                </a:solidFill>
                <a:latin typeface="Arial"/>
              </a:rPr>
              <a:t>Python, pandas, Matplotlib, Seaborn, scikit-learn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828800"/>
            <a:ext cx="3611880" cy="4023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98280" y="2240280"/>
            <a:ext cx="1005840" cy="10058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240280"/>
            <a:ext cx="1005840" cy="10058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566160"/>
            <a:ext cx="297180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rial"/>
              </a:rPr>
              <a:t>ACCEPTANCE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4041648"/>
            <a:ext cx="2926080" cy="12984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The script reproduces every output, test-set metrics and residuals are reported, causal claims are avoided and limitations are explicit in the stakeholder brief.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spd="slow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Recap — Advanced Data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Method chains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Runnable Python and pandas outputs.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 to the next analytical layer.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  <p:transition spd="slow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148840"/>
            <a:ext cx="118872" cy="1965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88696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4F46E5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9784080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11827"/>
                </a:solidFill>
                <a:latin typeface="Arial"/>
              </a:rPr>
              <a:t>Recap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  <p:transition spd="slow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"/>
            <a:ext cx="105156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Arial"/>
              </a:rPr>
              <a:t>COURSE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698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11827"/>
                </a:solidFill>
                <a:latin typeface="Arial"/>
              </a:rPr>
              <a:t>Course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Share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the course feedback form.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Reflect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Note what worked well for you.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Improve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Tell us what we can do better.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Apply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one analysis at work this month.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  <p:transition spd="slow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148840"/>
            <a:ext cx="118872" cy="1965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88696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4F46E5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9784080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11827"/>
                </a:solidFill>
                <a:latin typeface="Arial"/>
              </a:rPr>
              <a:t>Turn trusted data into a defensible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959352"/>
            <a:ext cx="9692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Prepare, transform, visualise, analyse and review evidence with reproducible Python.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83096"/>
            <a:ext cx="53035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Python Data Analysis Masterclass · C193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6483096"/>
            <a:ext cx="36576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83096"/>
            <a:ext cx="4572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